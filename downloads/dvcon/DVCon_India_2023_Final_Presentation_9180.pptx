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0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30275213" cy="42803763"/>
  <p:notesSz cx="6858000" cy="9144000"/>
  <p:custDataLst>
    <p:tags r:id="rId5"/>
  </p:custDataLst>
  <p:defaultTextStyle>
    <a:defPPr>
      <a:defRPr lang="en-US"/>
    </a:defPPr>
    <a:lvl1pPr algn="l" defTabSz="4297363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2147888" indent="-1690688" algn="l" defTabSz="4297363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4297363" indent="-3382963" algn="l" defTabSz="4297363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6446838" indent="-5075238" algn="l" defTabSz="4297363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8596313" indent="-6767513" algn="l" defTabSz="4297363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316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orient="horz" pos="26214">
          <p15:clr>
            <a:srgbClr val="A4A3A4"/>
          </p15:clr>
        </p15:guide>
        <p15:guide id="4" orient="horz">
          <p15:clr>
            <a:srgbClr val="A4A3A4"/>
          </p15:clr>
        </p15:guide>
        <p15:guide id="5" pos="401">
          <p15:clr>
            <a:srgbClr val="A4A3A4"/>
          </p15:clr>
        </p15:guide>
        <p15:guide id="6" pos="186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3F5FA"/>
    <a:srgbClr val="CDD2DE"/>
    <a:srgbClr val="E3E9E5"/>
    <a:srgbClr val="EAEAEA"/>
    <a:srgbClr val="FF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07" autoAdjust="0"/>
    <p:restoredTop sz="96357" autoAdjust="0"/>
  </p:normalViewPr>
  <p:slideViewPr>
    <p:cSldViewPr snapToGrid="0" snapToObjects="1">
      <p:cViewPr>
        <p:scale>
          <a:sx n="30" d="100"/>
          <a:sy n="30" d="100"/>
        </p:scale>
        <p:origin x="-804" y="4962"/>
      </p:cViewPr>
      <p:guideLst>
        <p:guide orient="horz" pos="4316"/>
        <p:guide orient="horz" pos="375"/>
        <p:guide orient="horz" pos="26214"/>
        <p:guide orient="horz"/>
        <p:guide pos="401"/>
        <p:guide pos="186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2976" y="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429841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429841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6170067-98EE-4310-A749-221E75E39299}" type="datetimeFigureOut">
              <a:rPr lang="en-US"/>
              <a:pPr>
                <a:defRPr/>
              </a:pPr>
              <a:t>8/19/2023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429841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429841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6B84B4C-35E0-4AD2-9D33-E2060ADD54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63105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429841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429841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63F9517-E024-4653-9649-815534AB44D7}" type="datetimeFigureOut">
              <a:rPr lang="en-US"/>
              <a:pPr>
                <a:defRPr/>
              </a:pPr>
              <a:t>8/19/2023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429841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429841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429B01F-019F-470C-80F6-928133E3A9D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664617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297363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2147888" algn="l" defTabSz="4297363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4297363" algn="l" defTabSz="4297363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6446838" algn="l" defTabSz="4297363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8596313" algn="l" defTabSz="4297363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10746023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2895229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044432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193637" algn="l" defTabSz="429841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85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297363" fontAlgn="base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297363" fontAlgn="base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297363" fontAlgn="base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297363" fontAlgn="base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297363" fontAlgn="base">
              <a:spcBef>
                <a:spcPct val="0"/>
              </a:spcBef>
              <a:spcAft>
                <a:spcPct val="0"/>
              </a:spcAft>
              <a:defRPr/>
            </a:pPr>
            <a:fld id="{FB55ECB4-2EF4-4FE8-8A50-D540F2DE8C72}" type="slidenum">
              <a:rPr lang="en-US" altLang="en-US" sz="1200" smtClean="0"/>
              <a:pPr defTabSz="4297363"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8"/>
          <p:cNvSpPr>
            <a:spLocks noChangeArrowheads="1"/>
          </p:cNvSpPr>
          <p:nvPr userDrawn="1"/>
        </p:nvSpPr>
        <p:spPr bwMode="auto">
          <a:xfrm>
            <a:off x="11668125" y="41965563"/>
            <a:ext cx="63547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3900" b="1" dirty="0">
                <a:solidFill>
                  <a:srgbClr val="2C3F71"/>
                </a:solidFill>
                <a:latin typeface="Calibri" pitchFamily="34" charset="0"/>
              </a:rPr>
              <a:t>© Accellera Systems Initiative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23691" y="6925562"/>
            <a:ext cx="14299153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rebuchet MS" pitchFamily="34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6213" y="6186636"/>
            <a:ext cx="14287866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636211" y="16986998"/>
            <a:ext cx="14291358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15353328" y="6186636"/>
            <a:ext cx="14287682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15353328" y="6925562"/>
            <a:ext cx="14287682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rebuchet MS" pitchFamily="34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15353329" y="17009575"/>
            <a:ext cx="14283756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/>
          </p:nvPr>
        </p:nvSpPr>
        <p:spPr>
          <a:xfrm>
            <a:off x="15347853" y="17802858"/>
            <a:ext cx="14289232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rebuchet MS" pitchFamily="34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/>
          </p:nvPr>
        </p:nvSpPr>
        <p:spPr>
          <a:xfrm>
            <a:off x="623691" y="17782142"/>
            <a:ext cx="14300387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rebuchet MS" pitchFamily="34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76"/>
          <p:cNvSpPr>
            <a:spLocks noGrp="1"/>
          </p:cNvSpPr>
          <p:nvPr>
            <p:ph type="body" sz="quarter" idx="150"/>
          </p:nvPr>
        </p:nvSpPr>
        <p:spPr>
          <a:xfrm>
            <a:off x="7235743" y="4403558"/>
            <a:ext cx="15156028" cy="795708"/>
          </a:xfrm>
          <a:prstGeom prst="rect">
            <a:avLst/>
          </a:prstGeom>
        </p:spPr>
        <p:txBody>
          <a:bodyPr lIns="77349" tIns="38675" rIns="77349" bIns="38675">
            <a:normAutofit/>
          </a:bodyPr>
          <a:lstStyle>
            <a:lvl1pPr marL="0" indent="0" algn="ctr">
              <a:buFontTx/>
              <a:buNone/>
              <a:defRPr sz="4400">
                <a:solidFill>
                  <a:schemeClr val="tx2"/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76"/>
          <p:cNvSpPr>
            <a:spLocks noGrp="1"/>
          </p:cNvSpPr>
          <p:nvPr>
            <p:ph type="body" sz="quarter" idx="151"/>
          </p:nvPr>
        </p:nvSpPr>
        <p:spPr>
          <a:xfrm>
            <a:off x="7235743" y="3266282"/>
            <a:ext cx="15156028" cy="1060492"/>
          </a:xfrm>
          <a:prstGeom prst="rect">
            <a:avLst/>
          </a:prstGeom>
        </p:spPr>
        <p:txBody>
          <a:bodyPr lIns="77349" tIns="38675" rIns="77349" bIns="38675" anchor="t" anchorCtr="1">
            <a:noAutofit/>
          </a:bodyPr>
          <a:lstStyle>
            <a:lvl1pPr marL="0" indent="0" algn="ctr">
              <a:buFontTx/>
              <a:buNone/>
              <a:defRPr sz="6000">
                <a:solidFill>
                  <a:schemeClr val="tx2"/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76"/>
          <p:cNvSpPr>
            <a:spLocks noGrp="1"/>
          </p:cNvSpPr>
          <p:nvPr>
            <p:ph type="body" sz="quarter" idx="153"/>
          </p:nvPr>
        </p:nvSpPr>
        <p:spPr>
          <a:xfrm>
            <a:off x="7235743" y="758465"/>
            <a:ext cx="15156028" cy="2507817"/>
          </a:xfrm>
          <a:prstGeom prst="rect">
            <a:avLst/>
          </a:prstGeom>
        </p:spPr>
        <p:txBody>
          <a:bodyPr lIns="77349" tIns="38675" rIns="77349" bIns="38675" anchor="ctr" anchorCtr="1">
            <a:normAutofit/>
          </a:bodyPr>
          <a:lstStyle>
            <a:lvl1pPr marL="0" indent="0" algn="ctr">
              <a:lnSpc>
                <a:spcPts val="9000"/>
              </a:lnSpc>
              <a:spcBef>
                <a:spcPts val="0"/>
              </a:spcBef>
              <a:buFontTx/>
              <a:buNone/>
              <a:defRPr sz="9800" baseline="0">
                <a:solidFill>
                  <a:schemeClr val="tx2"/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54"/>
          </p:nvPr>
        </p:nvSpPr>
        <p:spPr>
          <a:xfrm>
            <a:off x="7975668" y="38623192"/>
            <a:ext cx="14276605" cy="1381180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56"/>
          </p:nvPr>
        </p:nvSpPr>
        <p:spPr>
          <a:xfrm>
            <a:off x="636211" y="27883011"/>
            <a:ext cx="14291358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157"/>
          </p:nvPr>
        </p:nvSpPr>
        <p:spPr>
          <a:xfrm>
            <a:off x="15353329" y="27905588"/>
            <a:ext cx="14283756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"/>
          <p:cNvSpPr>
            <a:spLocks noGrp="1"/>
          </p:cNvSpPr>
          <p:nvPr>
            <p:ph type="body" sz="quarter" idx="158"/>
          </p:nvPr>
        </p:nvSpPr>
        <p:spPr>
          <a:xfrm>
            <a:off x="15347853" y="28698871"/>
            <a:ext cx="14289232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rebuchet MS" pitchFamily="34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quarter" idx="159"/>
          </p:nvPr>
        </p:nvSpPr>
        <p:spPr>
          <a:xfrm>
            <a:off x="623691" y="28678155"/>
            <a:ext cx="14300387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rebuchet MS" pitchFamily="34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3481" userDrawn="1">
          <p15:clr>
            <a:srgbClr val="FBAE40"/>
          </p15:clr>
        </p15:guide>
        <p15:guide id="2" pos="95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5">
                <a:lumMod val="75000"/>
              </a:schemeClr>
            </a:gs>
            <a:gs pos="50000">
              <a:schemeClr val="accent5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3"/>
          <p:cNvSpPr>
            <a:spLocks noChangeArrowheads="1"/>
          </p:cNvSpPr>
          <p:nvPr/>
        </p:nvSpPr>
        <p:spPr bwMode="auto">
          <a:xfrm>
            <a:off x="635000" y="6015038"/>
            <a:ext cx="29005213" cy="10169525"/>
          </a:xfrm>
          <a:prstGeom prst="roundRect">
            <a:avLst>
              <a:gd name="adj" fmla="val 1449"/>
            </a:avLst>
          </a:prstGeom>
          <a:solidFill>
            <a:schemeClr val="bg1"/>
          </a:solidFill>
          <a:ln w="53975">
            <a:solidFill>
              <a:schemeClr val="tx2"/>
            </a:solidFill>
            <a:miter lim="800000"/>
            <a:headEnd/>
            <a:tailEnd/>
          </a:ln>
        </p:spPr>
        <p:txBody>
          <a:bodyPr wrap="none" lIns="89551" tIns="44774" rIns="89551" bIns="44774" anchor="ctr"/>
          <a:lstStyle/>
          <a:p>
            <a:endParaRPr lang="en-US" altLang="en-US" dirty="0">
              <a:latin typeface="Calibri" pitchFamily="34" charset="0"/>
            </a:endParaRPr>
          </a:p>
        </p:txBody>
      </p:sp>
      <p:sp>
        <p:nvSpPr>
          <p:cNvPr id="1027" name="Rectangle 33"/>
          <p:cNvSpPr>
            <a:spLocks noChangeArrowheads="1"/>
          </p:cNvSpPr>
          <p:nvPr userDrawn="1"/>
        </p:nvSpPr>
        <p:spPr bwMode="auto">
          <a:xfrm>
            <a:off x="635000" y="600075"/>
            <a:ext cx="29005213" cy="4789488"/>
          </a:xfrm>
          <a:prstGeom prst="roundRect">
            <a:avLst>
              <a:gd name="adj" fmla="val 3537"/>
            </a:avLst>
          </a:prstGeom>
          <a:solidFill>
            <a:schemeClr val="bg1"/>
          </a:solidFill>
          <a:ln w="53975">
            <a:solidFill>
              <a:schemeClr val="tx2"/>
            </a:solidFill>
            <a:miter lim="800000"/>
            <a:headEnd/>
            <a:tailEnd/>
          </a:ln>
        </p:spPr>
        <p:txBody>
          <a:bodyPr wrap="none" lIns="89551" tIns="44774" rIns="89551" bIns="44774" anchor="ctr"/>
          <a:lstStyle/>
          <a:p>
            <a:endParaRPr lang="en-US" altLang="en-US" dirty="0">
              <a:latin typeface="Calibri" pitchFamily="34" charset="0"/>
            </a:endParaRPr>
          </a:p>
        </p:txBody>
      </p:sp>
      <p:sp>
        <p:nvSpPr>
          <p:cNvPr id="1028" name="Rectangle 33"/>
          <p:cNvSpPr>
            <a:spLocks noChangeArrowheads="1"/>
          </p:cNvSpPr>
          <p:nvPr userDrawn="1"/>
        </p:nvSpPr>
        <p:spPr bwMode="auto">
          <a:xfrm>
            <a:off x="635000" y="38458775"/>
            <a:ext cx="29005213" cy="3530600"/>
          </a:xfrm>
          <a:prstGeom prst="roundRect">
            <a:avLst>
              <a:gd name="adj" fmla="val 5694"/>
            </a:avLst>
          </a:prstGeom>
          <a:solidFill>
            <a:schemeClr val="bg1"/>
          </a:solidFill>
          <a:ln w="53975">
            <a:solidFill>
              <a:schemeClr val="tx2"/>
            </a:solidFill>
            <a:miter lim="800000"/>
            <a:headEnd/>
            <a:tailEnd/>
          </a:ln>
        </p:spPr>
        <p:txBody>
          <a:bodyPr wrap="none" lIns="89551" tIns="44774" rIns="89551" bIns="44774" anchor="ctr"/>
          <a:lstStyle/>
          <a:p>
            <a:endParaRPr lang="en-US" altLang="en-US" dirty="0">
              <a:latin typeface="Calibri" pitchFamily="34" charset="0"/>
            </a:endParaRPr>
          </a:p>
        </p:txBody>
      </p:sp>
      <p:pic>
        <p:nvPicPr>
          <p:cNvPr id="1029" name="Picture 13" descr="accellera-logo-poster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6158" y="1645761"/>
            <a:ext cx="5529262" cy="306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33"/>
          <p:cNvSpPr>
            <a:spLocks noChangeArrowheads="1"/>
          </p:cNvSpPr>
          <p:nvPr userDrawn="1"/>
        </p:nvSpPr>
        <p:spPr bwMode="auto">
          <a:xfrm>
            <a:off x="635000" y="16816388"/>
            <a:ext cx="29005213" cy="10169525"/>
          </a:xfrm>
          <a:prstGeom prst="roundRect">
            <a:avLst>
              <a:gd name="adj" fmla="val 1449"/>
            </a:avLst>
          </a:prstGeom>
          <a:solidFill>
            <a:schemeClr val="bg1"/>
          </a:solidFill>
          <a:ln w="53975">
            <a:solidFill>
              <a:schemeClr val="tx2"/>
            </a:solidFill>
            <a:miter lim="800000"/>
            <a:headEnd/>
            <a:tailEnd/>
          </a:ln>
        </p:spPr>
        <p:txBody>
          <a:bodyPr wrap="none" lIns="89551" tIns="44774" rIns="89551" bIns="44774" anchor="ctr"/>
          <a:lstStyle/>
          <a:p>
            <a:endParaRPr lang="en-US" altLang="en-US" dirty="0">
              <a:latin typeface="Calibri" pitchFamily="34" charset="0"/>
            </a:endParaRPr>
          </a:p>
        </p:txBody>
      </p:sp>
      <p:sp>
        <p:nvSpPr>
          <p:cNvPr id="1031" name="Rectangle 33"/>
          <p:cNvSpPr>
            <a:spLocks noChangeArrowheads="1"/>
          </p:cNvSpPr>
          <p:nvPr userDrawn="1"/>
        </p:nvSpPr>
        <p:spPr bwMode="auto">
          <a:xfrm>
            <a:off x="635000" y="27611388"/>
            <a:ext cx="29005213" cy="10221912"/>
          </a:xfrm>
          <a:prstGeom prst="roundRect">
            <a:avLst>
              <a:gd name="adj" fmla="val 1449"/>
            </a:avLst>
          </a:prstGeom>
          <a:solidFill>
            <a:schemeClr val="bg1"/>
          </a:solidFill>
          <a:ln w="53975">
            <a:solidFill>
              <a:schemeClr val="tx2"/>
            </a:solidFill>
            <a:miter lim="800000"/>
            <a:headEnd/>
            <a:tailEnd/>
          </a:ln>
        </p:spPr>
        <p:txBody>
          <a:bodyPr wrap="none" lIns="89551" tIns="44774" rIns="89551" bIns="44774" anchor="ctr"/>
          <a:lstStyle/>
          <a:p>
            <a:endParaRPr lang="en-US" altLang="en-US" dirty="0">
              <a:latin typeface="Calibri" pitchFamily="34" charset="0"/>
            </a:endParaRPr>
          </a:p>
        </p:txBody>
      </p:sp>
      <p:pic>
        <p:nvPicPr>
          <p:cNvPr id="3" name="Picture 2" descr="Logo&#10;&#10;Description automatically generated with medium confidence">
            <a:extLst>
              <a:ext uri="{FF2B5EF4-FFF2-40B4-BE49-F238E27FC236}">
                <a16:creationId xmlns:a16="http://schemas.microsoft.com/office/drawing/2014/main" xmlns="" id="{9CE8BFFA-17D3-4DF2-B40B-C49C0E6EE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009016" y="1302816"/>
            <a:ext cx="6260039" cy="37497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4297363" rtl="0" eaLnBrk="0" fontAlgn="base" hangingPunct="0">
        <a:spcBef>
          <a:spcPct val="0"/>
        </a:spcBef>
        <a:spcAft>
          <a:spcPct val="0"/>
        </a:spcAft>
        <a:defRPr sz="85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  <a:lvl2pPr algn="ctr" defTabSz="4297363" rtl="0" eaLnBrk="0" fontAlgn="base" hangingPunct="0">
        <a:spcBef>
          <a:spcPct val="0"/>
        </a:spcBef>
        <a:spcAft>
          <a:spcPct val="0"/>
        </a:spcAft>
        <a:defRPr sz="8500">
          <a:solidFill>
            <a:schemeClr val="bg1"/>
          </a:solidFill>
          <a:latin typeface="Trebuchet MS" pitchFamily="34" charset="0"/>
        </a:defRPr>
      </a:lvl2pPr>
      <a:lvl3pPr algn="ctr" defTabSz="4297363" rtl="0" eaLnBrk="0" fontAlgn="base" hangingPunct="0">
        <a:spcBef>
          <a:spcPct val="0"/>
        </a:spcBef>
        <a:spcAft>
          <a:spcPct val="0"/>
        </a:spcAft>
        <a:defRPr sz="8500">
          <a:solidFill>
            <a:schemeClr val="bg1"/>
          </a:solidFill>
          <a:latin typeface="Trebuchet MS" pitchFamily="34" charset="0"/>
        </a:defRPr>
      </a:lvl3pPr>
      <a:lvl4pPr algn="ctr" defTabSz="4297363" rtl="0" eaLnBrk="0" fontAlgn="base" hangingPunct="0">
        <a:spcBef>
          <a:spcPct val="0"/>
        </a:spcBef>
        <a:spcAft>
          <a:spcPct val="0"/>
        </a:spcAft>
        <a:defRPr sz="8500">
          <a:solidFill>
            <a:schemeClr val="bg1"/>
          </a:solidFill>
          <a:latin typeface="Trebuchet MS" pitchFamily="34" charset="0"/>
        </a:defRPr>
      </a:lvl4pPr>
      <a:lvl5pPr algn="ctr" defTabSz="4297363" rtl="0" eaLnBrk="0" fontAlgn="base" hangingPunct="0">
        <a:spcBef>
          <a:spcPct val="0"/>
        </a:spcBef>
        <a:spcAft>
          <a:spcPct val="0"/>
        </a:spcAft>
        <a:defRPr sz="8500">
          <a:solidFill>
            <a:schemeClr val="bg1"/>
          </a:solidFill>
          <a:latin typeface="Trebuchet MS" pitchFamily="34" charset="0"/>
        </a:defRPr>
      </a:lvl5pPr>
      <a:lvl6pPr marL="457200" algn="ctr" defTabSz="4297363" rtl="0" fontAlgn="base">
        <a:spcBef>
          <a:spcPct val="0"/>
        </a:spcBef>
        <a:spcAft>
          <a:spcPct val="0"/>
        </a:spcAft>
        <a:defRPr sz="8500">
          <a:solidFill>
            <a:schemeClr val="bg1"/>
          </a:solidFill>
          <a:latin typeface="Trebuchet MS" pitchFamily="34" charset="0"/>
        </a:defRPr>
      </a:lvl6pPr>
      <a:lvl7pPr marL="914400" algn="ctr" defTabSz="4297363" rtl="0" fontAlgn="base">
        <a:spcBef>
          <a:spcPct val="0"/>
        </a:spcBef>
        <a:spcAft>
          <a:spcPct val="0"/>
        </a:spcAft>
        <a:defRPr sz="8500">
          <a:solidFill>
            <a:schemeClr val="bg1"/>
          </a:solidFill>
          <a:latin typeface="Trebuchet MS" pitchFamily="34" charset="0"/>
        </a:defRPr>
      </a:lvl7pPr>
      <a:lvl8pPr marL="1371600" algn="ctr" defTabSz="4297363" rtl="0" fontAlgn="base">
        <a:spcBef>
          <a:spcPct val="0"/>
        </a:spcBef>
        <a:spcAft>
          <a:spcPct val="0"/>
        </a:spcAft>
        <a:defRPr sz="8500">
          <a:solidFill>
            <a:schemeClr val="bg1"/>
          </a:solidFill>
          <a:latin typeface="Trebuchet MS" pitchFamily="34" charset="0"/>
        </a:defRPr>
      </a:lvl8pPr>
      <a:lvl9pPr marL="1828800" algn="ctr" defTabSz="4297363" rtl="0" fontAlgn="base">
        <a:spcBef>
          <a:spcPct val="0"/>
        </a:spcBef>
        <a:spcAft>
          <a:spcPct val="0"/>
        </a:spcAft>
        <a:defRPr sz="8500">
          <a:solidFill>
            <a:schemeClr val="bg1"/>
          </a:solidFill>
          <a:latin typeface="Trebuchet MS" pitchFamily="34" charset="0"/>
        </a:defRPr>
      </a:lvl9pPr>
    </p:titleStyle>
    <p:bodyStyle>
      <a:lvl1pPr marL="1611313" indent="-1611313" algn="l" defTabSz="42973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490913" indent="-1343025" algn="l" defTabSz="4297363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3300" kern="1200">
          <a:solidFill>
            <a:schemeClr val="tx1"/>
          </a:solidFill>
          <a:latin typeface="+mn-lt"/>
          <a:ea typeface="+mn-ea"/>
          <a:cs typeface="+mn-cs"/>
        </a:defRPr>
      </a:lvl2pPr>
      <a:lvl3pPr marL="5372100" indent="-1073150" algn="l" defTabSz="42973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21575" indent="-1073150" algn="l" defTabSz="4297363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671050" indent="-1073150" algn="l" defTabSz="4297363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20625" indent="-1074603" algn="l" defTabSz="429841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3969828" indent="-1074603" algn="l" defTabSz="429841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119034" indent="-1074603" algn="l" defTabSz="429841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268238" indent="-1074603" algn="l" defTabSz="429841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49205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298410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47613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596817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6023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895229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044432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193637" algn="l" defTabSz="429841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Placeholder 266">
            <a:extLst>
              <a:ext uri="{FF2B5EF4-FFF2-40B4-BE49-F238E27FC236}">
                <a16:creationId xmlns:a16="http://schemas.microsoft.com/office/drawing/2014/main" xmlns="" id="{BC6A51DF-F61B-44A3-AEB5-23EA3D0451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691" y="6925562"/>
            <a:ext cx="14299153" cy="8725161"/>
          </a:xfrm>
        </p:spPr>
        <p:txBody>
          <a:bodyPr/>
          <a:lstStyle/>
          <a:p>
            <a:r>
              <a:rPr lang="en-US" dirty="0"/>
              <a:t>Rapidly changing Camera Sensor market - resolution &amp; feature </a:t>
            </a:r>
            <a:r>
              <a:rPr lang="en-US" dirty="0" smtClean="0"/>
              <a:t>upgrade </a:t>
            </a:r>
            <a:r>
              <a:rPr lang="en-US" dirty="0"/>
              <a:t>every 6-8 </a:t>
            </a:r>
            <a:r>
              <a:rPr lang="en-US" dirty="0" smtClean="0"/>
              <a:t>months. Camera Sensor </a:t>
            </a:r>
            <a:r>
              <a:rPr lang="en-US" dirty="0"/>
              <a:t>Pipeline </a:t>
            </a:r>
            <a:r>
              <a:rPr lang="en-US" dirty="0" smtClean="0"/>
              <a:t>includes - </a:t>
            </a:r>
            <a:r>
              <a:rPr lang="en-US" dirty="0"/>
              <a:t>Analog Front, ISP pipeline, High Speed PHY (CSI2 with DPHY/CPHY), CPU Subsystem, 8-10 power </a:t>
            </a:r>
            <a:r>
              <a:rPr lang="en-US" dirty="0" smtClean="0"/>
              <a:t>domains.</a:t>
            </a:r>
            <a:endParaRPr lang="en-US" dirty="0"/>
          </a:p>
          <a:p>
            <a:endParaRPr lang="en-US" dirty="0"/>
          </a:p>
          <a:p>
            <a:r>
              <a:rPr lang="en-US" dirty="0"/>
              <a:t>Functional Verification </a:t>
            </a:r>
            <a:r>
              <a:rPr lang="en-US" dirty="0" smtClean="0"/>
              <a:t>challenges of a Camera Sensor(any  typical Multimedia design):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High Pixel </a:t>
            </a:r>
            <a:r>
              <a:rPr lang="en-US" dirty="0" smtClean="0"/>
              <a:t>resolution &amp; Long ISP chain </a:t>
            </a:r>
            <a:r>
              <a:rPr lang="en-US" dirty="0" smtClean="0"/>
              <a:t>-&gt; Higher runtimes </a:t>
            </a:r>
            <a:r>
              <a:rPr lang="en-US" dirty="0" smtClean="0"/>
              <a:t>-&gt; Iterative </a:t>
            </a:r>
            <a:r>
              <a:rPr lang="en-US" dirty="0" smtClean="0"/>
              <a:t>scoreboard </a:t>
            </a:r>
            <a:r>
              <a:rPr lang="en-US" dirty="0" err="1" smtClean="0"/>
              <a:t>bringup</a:t>
            </a:r>
            <a:r>
              <a:rPr lang="en-US" dirty="0" smtClean="0"/>
              <a:t> (C </a:t>
            </a:r>
            <a:r>
              <a:rPr lang="en-US" dirty="0" err="1" smtClean="0"/>
              <a:t>vs</a:t>
            </a:r>
            <a:r>
              <a:rPr lang="en-US" dirty="0" smtClean="0"/>
              <a:t> RTL sanity</a:t>
            </a:r>
            <a:r>
              <a:rPr lang="en-US" dirty="0" smtClean="0"/>
              <a:t>)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Product Firmware validation</a:t>
            </a:r>
          </a:p>
          <a:p>
            <a:endParaRPr lang="en-US" dirty="0"/>
          </a:p>
          <a:p>
            <a:r>
              <a:rPr lang="en-US" dirty="0"/>
              <a:t>Power </a:t>
            </a:r>
            <a:r>
              <a:rPr lang="en-US" dirty="0" smtClean="0"/>
              <a:t>Aware(PA) </a:t>
            </a:r>
            <a:r>
              <a:rPr lang="en-US" dirty="0"/>
              <a:t>validation </a:t>
            </a:r>
            <a:r>
              <a:rPr lang="en-US" dirty="0" smtClean="0"/>
              <a:t>on </a:t>
            </a:r>
            <a:r>
              <a:rPr lang="en-US" dirty="0"/>
              <a:t>RTL stipulates checking power strategy of design, viz. power transitions, state corruption/retention, FW/HW power controls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Challenges </a:t>
            </a:r>
            <a:r>
              <a:rPr lang="en-US" dirty="0" smtClean="0"/>
              <a:t>Specific to Power Aware </a:t>
            </a:r>
            <a:r>
              <a:rPr lang="en-US" dirty="0" smtClean="0"/>
              <a:t>Verification: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 Typical </a:t>
            </a:r>
            <a:r>
              <a:rPr lang="en-US" dirty="0" smtClean="0"/>
              <a:t>Run times &gt;&gt; 1day for 1 </a:t>
            </a:r>
            <a:r>
              <a:rPr lang="en-US" dirty="0" err="1" smtClean="0"/>
              <a:t>testcase</a:t>
            </a:r>
            <a:r>
              <a:rPr lang="en-US" dirty="0" smtClean="0"/>
              <a:t> -&gt; Limits </a:t>
            </a:r>
            <a:r>
              <a:rPr lang="en-US" dirty="0" smtClean="0"/>
              <a:t>multimode power transition and only small size </a:t>
            </a:r>
            <a:r>
              <a:rPr lang="en-US" dirty="0" smtClean="0"/>
              <a:t>frame run -&gt; More </a:t>
            </a:r>
            <a:r>
              <a:rPr lang="en-US" dirty="0" smtClean="0"/>
              <a:t>possible critical bugs.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 Time </a:t>
            </a:r>
            <a:r>
              <a:rPr lang="en-US" dirty="0" smtClean="0"/>
              <a:t>taken per debug cycle is more.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 Firmware </a:t>
            </a:r>
            <a:r>
              <a:rPr lang="en-US" dirty="0" smtClean="0"/>
              <a:t>can not use FPGA  to run power aware simulations. </a:t>
            </a:r>
            <a:endParaRPr lang="en-US" dirty="0"/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Problem Statement/Introduction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Implementation Details/Diagram </a:t>
            </a:r>
            <a:endParaRPr lang="en-US" dirty="0"/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Proposed Methodology/Advantages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nl-NL"/>
              <a:t>Implementation  Details/Flow Chart</a:t>
            </a:r>
            <a:endParaRPr lang="en-US" dirty="0"/>
          </a:p>
        </p:txBody>
      </p:sp>
      <p:sp>
        <p:nvSpPr>
          <p:cNvPr id="269" name="Text Placeholder 268">
            <a:extLst>
              <a:ext uri="{FF2B5EF4-FFF2-40B4-BE49-F238E27FC236}">
                <a16:creationId xmlns:a16="http://schemas.microsoft.com/office/drawing/2014/main" xmlns="" id="{EFA6D686-ABE0-4ADD-821D-C966B83595A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347853" y="17802858"/>
            <a:ext cx="14289232" cy="9254536"/>
          </a:xfrm>
        </p:spPr>
        <p:txBody>
          <a:bodyPr/>
          <a:lstStyle/>
          <a:p>
            <a:r>
              <a:rPr lang="en-US" sz="2600" b="1" dirty="0" smtClean="0"/>
              <a:t>CHANGES FOR PORTING SIMULATION TB SETUP TO EMULATION</a:t>
            </a:r>
          </a:p>
          <a:p>
            <a:r>
              <a:rPr lang="en-US" sz="2600" dirty="0" smtClean="0"/>
              <a:t>Scoreboard &amp; Data monitors:</a:t>
            </a:r>
          </a:p>
          <a:p>
            <a:r>
              <a:rPr lang="en-US" sz="2600" dirty="0" smtClean="0"/>
              <a:t>Data monitor on ISP IPs – Transaction Based Acceleration.</a:t>
            </a:r>
          </a:p>
          <a:p>
            <a:r>
              <a:rPr lang="en-US" sz="2600" dirty="0" smtClean="0"/>
              <a:t>Data monitor on CSI2 High Speed I/F – Use </a:t>
            </a:r>
            <a:r>
              <a:rPr lang="en-US" sz="2600" dirty="0" err="1" smtClean="0"/>
              <a:t>Accelerable</a:t>
            </a:r>
            <a:r>
              <a:rPr lang="en-US" sz="2600" dirty="0" smtClean="0"/>
              <a:t> VIP(AVIP).</a:t>
            </a:r>
          </a:p>
          <a:p>
            <a:endParaRPr lang="en-US" sz="2600" dirty="0"/>
          </a:p>
          <a:p>
            <a:r>
              <a:rPr lang="en-US" sz="2600" dirty="0" smtClean="0"/>
              <a:t>Assertions: Portable as is.</a:t>
            </a:r>
          </a:p>
          <a:p>
            <a:endParaRPr lang="en-US" sz="2600" dirty="0"/>
          </a:p>
          <a:p>
            <a:r>
              <a:rPr lang="en-US" sz="2600" dirty="0" smtClean="0"/>
              <a:t>Power intent integration/compilation: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 smtClean="0"/>
              <a:t>Compile time switches to input UPF &amp; Liberty files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 smtClean="0"/>
              <a:t>For any modules that are stubbed for emulation, may need compile switches to ignore.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 smtClean="0"/>
              <a:t>Reuse simulation logic to control DUT supplies</a:t>
            </a:r>
          </a:p>
          <a:p>
            <a:pPr marL="514350" indent="-514350">
              <a:buAutoNum type="arabicPeriod"/>
            </a:pPr>
            <a:endParaRPr lang="en-US" sz="2600" dirty="0"/>
          </a:p>
          <a:p>
            <a:r>
              <a:rPr lang="en-US" sz="2600" dirty="0" smtClean="0"/>
              <a:t>Emulation run flow:</a:t>
            </a:r>
          </a:p>
          <a:p>
            <a:pPr marL="514350" indent="-514350">
              <a:buAutoNum type="arabicPeriod"/>
            </a:pPr>
            <a:r>
              <a:rPr lang="en-US" sz="2600" dirty="0" smtClean="0"/>
              <a:t>Run power transition sims with actual product firmware/custom C code -&gt; scoreboard, power transition, isolation &amp; retention checkers are active to catch any issue.</a:t>
            </a:r>
          </a:p>
          <a:p>
            <a:pPr marL="514350" indent="-514350">
              <a:buAutoNum type="arabicPeriod"/>
            </a:pPr>
            <a:r>
              <a:rPr lang="en-US" sz="2600" dirty="0" smtClean="0"/>
              <a:t>In waveform, view power loss &amp; state corruption.</a:t>
            </a:r>
          </a:p>
          <a:p>
            <a:pPr marL="514350" indent="-514350">
              <a:buAutoNum type="arabicPeriod"/>
            </a:pPr>
            <a:r>
              <a:rPr lang="en-US" sz="2600" dirty="0" smtClean="0"/>
              <a:t>Power aware emulator database can be run without enabling  Low Power also. Run as a normal sim by disabling through emulator switches</a:t>
            </a:r>
            <a:r>
              <a:rPr lang="en-US" sz="2600" dirty="0"/>
              <a:t> </a:t>
            </a:r>
            <a:r>
              <a:rPr lang="en-US" sz="2600" dirty="0" smtClean="0"/>
              <a:t>-&gt; allows narrowing </a:t>
            </a:r>
            <a:r>
              <a:rPr lang="en-US" sz="2600" dirty="0" err="1" smtClean="0"/>
              <a:t>rootcause</a:t>
            </a:r>
            <a:r>
              <a:rPr lang="en-US" sz="2600" dirty="0" smtClean="0"/>
              <a:t> of issue to functionality or power intent.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51"/>
          </p:nvPr>
        </p:nvSpPr>
        <p:spPr>
          <a:xfrm>
            <a:off x="9176887" y="4242402"/>
            <a:ext cx="11491914" cy="853520"/>
          </a:xfrm>
        </p:spPr>
        <p:txBody>
          <a:bodyPr/>
          <a:lstStyle/>
          <a:p>
            <a:r>
              <a:rPr lang="en-US" sz="4000" dirty="0" err="1" smtClean="0"/>
              <a:t>Vivek</a:t>
            </a:r>
            <a:r>
              <a:rPr lang="en-US" sz="4000" dirty="0" smtClean="0"/>
              <a:t> Kumar, Manish </a:t>
            </a:r>
            <a:r>
              <a:rPr lang="en-US" sz="4000" dirty="0" err="1" smtClean="0"/>
              <a:t>Mallan</a:t>
            </a:r>
            <a:r>
              <a:rPr lang="en-US" sz="4000" dirty="0" smtClean="0"/>
              <a:t>, </a:t>
            </a:r>
            <a:r>
              <a:rPr lang="en-US" sz="4000" dirty="0" err="1" smtClean="0"/>
              <a:t>Karthik</a:t>
            </a:r>
            <a:r>
              <a:rPr lang="en-US" sz="4000" dirty="0" smtClean="0"/>
              <a:t> </a:t>
            </a:r>
            <a:r>
              <a:rPr lang="en-US" sz="4000" dirty="0" err="1" smtClean="0"/>
              <a:t>Majeti</a:t>
            </a:r>
            <a:endParaRPr lang="en-US" sz="4000" dirty="0"/>
          </a:p>
        </p:txBody>
      </p:sp>
      <p:sp>
        <p:nvSpPr>
          <p:cNvPr id="42" name="Text Placeholder 41"/>
          <p:cNvSpPr>
            <a:spLocks noGrp="1"/>
          </p:cNvSpPr>
          <p:nvPr>
            <p:ph type="body" sz="quarter" idx="153"/>
          </p:nvPr>
        </p:nvSpPr>
        <p:spPr>
          <a:xfrm>
            <a:off x="7235743" y="758465"/>
            <a:ext cx="15156028" cy="348393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/>
              <a:t>Securing design confidence for Low power and Functional features of Image Sensor SOC - Reuse of UVM simulation </a:t>
            </a:r>
            <a:r>
              <a:rPr lang="en-US" sz="4800" b="1" dirty="0" err="1"/>
              <a:t>testbench</a:t>
            </a:r>
            <a:r>
              <a:rPr lang="en-US" sz="4800" b="1" dirty="0"/>
              <a:t> on HW acceleration platform</a:t>
            </a:r>
          </a:p>
        </p:txBody>
      </p:sp>
      <p:sp>
        <p:nvSpPr>
          <p:cNvPr id="271" name="Text Placeholder 270">
            <a:extLst>
              <a:ext uri="{FF2B5EF4-FFF2-40B4-BE49-F238E27FC236}">
                <a16:creationId xmlns:a16="http://schemas.microsoft.com/office/drawing/2014/main" xmlns="" id="{1E54C0B2-98BC-4D63-A34F-E0367D9D746B}"/>
              </a:ext>
            </a:extLst>
          </p:cNvPr>
          <p:cNvSpPr>
            <a:spLocks noGrp="1"/>
          </p:cNvSpPr>
          <p:nvPr>
            <p:ph type="body" sz="quarter" idx="154"/>
          </p:nvPr>
        </p:nvSpPr>
        <p:spPr>
          <a:xfrm>
            <a:off x="1076724" y="39009475"/>
            <a:ext cx="14276605" cy="2840041"/>
          </a:xfrm>
        </p:spPr>
        <p:txBody>
          <a:bodyPr/>
          <a:lstStyle/>
          <a:p>
            <a:pPr marL="514350" indent="-514350" algn="l">
              <a:buFont typeface="+mj-lt"/>
              <a:buAutoNum type="arabicPeriod"/>
            </a:pPr>
            <a:r>
              <a:rPr lang="en-US" sz="3200" b="0" u="none" dirty="0"/>
              <a:t>UVM Community (accellera.org) https://accellera.org/community/uvm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b="0" u="none" dirty="0"/>
              <a:t>https://</a:t>
            </a:r>
            <a:r>
              <a:rPr lang="en-US" sz="3200" b="0" u="none" dirty="0" smtClean="0"/>
              <a:t>www.cadence.com/en_US/home/solutions/low-power-solution/power-aware-verification-methodology.html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b="0" u="none" dirty="0"/>
              <a:t>https://www.cadence.com/en_US/home/tools/system-design-and-verification/emulation-and-prototyping/palladium.html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56"/>
          </p:nvPr>
        </p:nvSpPr>
        <p:spPr/>
        <p:txBody>
          <a:bodyPr/>
          <a:lstStyle/>
          <a:p>
            <a:r>
              <a:rPr lang="nl-NL"/>
              <a:t>Results Table</a:t>
            </a:r>
            <a:endParaRPr lang="en-US" dirty="0"/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57"/>
          </p:nvPr>
        </p:nvSpPr>
        <p:spPr/>
        <p:txBody>
          <a:bodyPr/>
          <a:lstStyle/>
          <a:p>
            <a:r>
              <a:rPr lang="nl-NL"/>
              <a:t>Conclusion</a:t>
            </a:r>
            <a:endParaRPr lang="en-US" dirty="0"/>
          </a:p>
        </p:txBody>
      </p:sp>
      <p:sp>
        <p:nvSpPr>
          <p:cNvPr id="272" name="Text Placeholder 271">
            <a:extLst>
              <a:ext uri="{FF2B5EF4-FFF2-40B4-BE49-F238E27FC236}">
                <a16:creationId xmlns:a16="http://schemas.microsoft.com/office/drawing/2014/main" xmlns="" id="{6C3BD757-8D37-46FE-8C88-AA7D76F0A593}"/>
              </a:ext>
            </a:extLst>
          </p:cNvPr>
          <p:cNvSpPr>
            <a:spLocks noGrp="1"/>
          </p:cNvSpPr>
          <p:nvPr>
            <p:ph type="body" sz="quarter" idx="158"/>
          </p:nvPr>
        </p:nvSpPr>
        <p:spPr>
          <a:xfrm>
            <a:off x="15347853" y="28698871"/>
            <a:ext cx="14289232" cy="8608206"/>
          </a:xfrm>
        </p:spPr>
        <p:txBody>
          <a:bodyPr/>
          <a:lstStyle/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US" sz="3000" dirty="0" smtClean="0"/>
              <a:t>The </a:t>
            </a:r>
            <a:r>
              <a:rPr lang="en-US" sz="3000" dirty="0"/>
              <a:t>run-time challenges due to large </a:t>
            </a:r>
            <a:r>
              <a:rPr lang="en-US" sz="3000" dirty="0" smtClean="0"/>
              <a:t>resolution </a:t>
            </a:r>
            <a:r>
              <a:rPr lang="en-US" sz="3000" dirty="0"/>
              <a:t>and </a:t>
            </a:r>
            <a:r>
              <a:rPr lang="en-US" sz="3000" dirty="0" smtClean="0"/>
              <a:t>gate count </a:t>
            </a:r>
            <a:r>
              <a:rPr lang="en-US" sz="3000" dirty="0"/>
              <a:t>can be </a:t>
            </a:r>
            <a:r>
              <a:rPr lang="en-US" sz="3000" dirty="0" smtClean="0"/>
              <a:t>mitigated </a:t>
            </a:r>
            <a:r>
              <a:rPr lang="en-US" sz="3000" dirty="0"/>
              <a:t>by porting the </a:t>
            </a:r>
            <a:r>
              <a:rPr lang="en-US" sz="3000" dirty="0" err="1"/>
              <a:t>testcases</a:t>
            </a:r>
            <a:r>
              <a:rPr lang="en-US" sz="3000" dirty="0"/>
              <a:t>, sequences and checkers to emulator - They are crucial to catch any bugs that got introduced due to power intent of the design.</a:t>
            </a:r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US" sz="3000" dirty="0"/>
              <a:t>Ensuring bug-free product firmware is also important. Emulation on Palladium helps support faster validation of firmware to check it honors all power intent.</a:t>
            </a:r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US" sz="3000" dirty="0"/>
              <a:t>Performance gains of the order of 50x. Careful partitioning allows hardware to run for up to 95% of the time.</a:t>
            </a:r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US" sz="3000" dirty="0"/>
              <a:t>The strategy can be scaled to other similar multimedia </a:t>
            </a:r>
            <a:r>
              <a:rPr lang="en-US" sz="3000" dirty="0" smtClean="0"/>
              <a:t>designs.</a:t>
            </a:r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US" sz="3000" dirty="0" smtClean="0"/>
              <a:t>Having IEEE 1801 constructs supported on Emulator platforms allows verification engineers to have more capabilities on disposal for uncovering critical silicon bugs.</a:t>
            </a:r>
            <a:endParaRPr lang="en-IN" sz="3000" dirty="0"/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en-US" sz="3000" dirty="0" smtClean="0"/>
              <a:t>Faster </a:t>
            </a:r>
            <a:r>
              <a:rPr lang="en-US" sz="3000" dirty="0"/>
              <a:t>time to market, that allowed us to be pioneers of ultra high resolution class of </a:t>
            </a:r>
            <a:r>
              <a:rPr lang="en-US" sz="3000" dirty="0" smtClean="0"/>
              <a:t>sensors</a:t>
            </a:r>
            <a:r>
              <a:rPr lang="en-US" sz="3000" dirty="0"/>
              <a:t> </a:t>
            </a:r>
            <a:r>
              <a:rPr lang="en-US" sz="3000" dirty="0" smtClean="0"/>
              <a:t>-&gt; Help overcome schedule challenges.</a:t>
            </a:r>
            <a:endParaRPr lang="en-IN" sz="30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136813" y="17210088"/>
            <a:ext cx="0" cy="9440862"/>
          </a:xfrm>
          <a:prstGeom prst="line">
            <a:avLst/>
          </a:prstGeom>
          <a:ln w="1270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xt Placeholder 272">
            <a:extLst>
              <a:ext uri="{FF2B5EF4-FFF2-40B4-BE49-F238E27FC236}">
                <a16:creationId xmlns:a16="http://schemas.microsoft.com/office/drawing/2014/main" xmlns="" id="{9F90BCF8-4499-43C1-97BF-B600B9351390}"/>
              </a:ext>
            </a:extLst>
          </p:cNvPr>
          <p:cNvSpPr>
            <a:spLocks noGrp="1"/>
          </p:cNvSpPr>
          <p:nvPr>
            <p:ph type="body" sz="quarter" idx="159"/>
          </p:nvPr>
        </p:nvSpPr>
        <p:spPr>
          <a:xfrm>
            <a:off x="718941" y="28525755"/>
            <a:ext cx="14300387" cy="9316092"/>
          </a:xfrm>
        </p:spPr>
        <p:txBody>
          <a:bodyPr/>
          <a:lstStyle/>
          <a:p>
            <a:r>
              <a:rPr lang="en-US" sz="3000" dirty="0"/>
              <a:t>Impact on </a:t>
            </a:r>
            <a:r>
              <a:rPr lang="en-US" sz="3000" dirty="0" smtClean="0"/>
              <a:t>development cycle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PRS validation closure: </a:t>
            </a:r>
            <a:r>
              <a:rPr lang="en-US" sz="3000" dirty="0" smtClean="0"/>
              <a:t>12-14 </a:t>
            </a:r>
            <a:r>
              <a:rPr lang="en-US" sz="3000" dirty="0"/>
              <a:t>weeks </a:t>
            </a:r>
            <a:r>
              <a:rPr lang="en-US" sz="3000" dirty="0" smtClean="0"/>
              <a:t>-&gt; 8 weeks (settings cleanup, scoreboard validation, assertions for functionality)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/>
              <a:t>Emulator replicates simulation functionally, thus ensuring no scope for additional uncertainties during debug phase.</a:t>
            </a:r>
            <a:endParaRPr lang="en-US" sz="3000" dirty="0"/>
          </a:p>
          <a:p>
            <a:endParaRPr lang="en-US" sz="3000" dirty="0"/>
          </a:p>
          <a:p>
            <a:r>
              <a:rPr lang="en-US" sz="3000" dirty="0" smtClean="0"/>
              <a:t>Low Power Validation/Power Aware Validation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/>
              <a:t>Simulation </a:t>
            </a:r>
            <a:r>
              <a:rPr lang="en-US" sz="3000" dirty="0"/>
              <a:t>24 hrs+ </a:t>
            </a:r>
            <a:r>
              <a:rPr lang="en-US" sz="3000" dirty="0" smtClean="0"/>
              <a:t>-&gt; </a:t>
            </a:r>
            <a:r>
              <a:rPr lang="en-US" sz="3000" dirty="0"/>
              <a:t>Emulation &lt;</a:t>
            </a:r>
            <a:r>
              <a:rPr lang="en-US" sz="3000" dirty="0" smtClean="0"/>
              <a:t>1hr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/>
              <a:t>On emulation corruption modeling differs from </a:t>
            </a:r>
            <a:r>
              <a:rPr lang="en-US" sz="3000" dirty="0" err="1" smtClean="0"/>
              <a:t>sim</a:t>
            </a:r>
            <a:r>
              <a:rPr lang="en-US" sz="3000" dirty="0" smtClean="0"/>
              <a:t> in few aspects -&gt; Understand them well to leverage emulator capabilities.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/>
              <a:t>Emulator database with PA switches -&gt; larger gate count </a:t>
            </a:r>
            <a:r>
              <a:rPr lang="en-US" sz="3000" dirty="0" err="1" smtClean="0"/>
              <a:t>vs</a:t>
            </a:r>
            <a:r>
              <a:rPr lang="en-US" sz="3000" dirty="0" smtClean="0"/>
              <a:t> non-PA emulator db due to instrumentation for enabling PA on emulator. Some impact observed on runtime.</a:t>
            </a:r>
            <a:endParaRPr lang="en-US" sz="3000" dirty="0"/>
          </a:p>
          <a:p>
            <a:endParaRPr lang="en-US" sz="3000" dirty="0"/>
          </a:p>
          <a:p>
            <a:r>
              <a:rPr lang="en-US" sz="3000" dirty="0"/>
              <a:t>Post Silicon Validation in </a:t>
            </a:r>
            <a:r>
              <a:rPr lang="en-US" sz="3000" dirty="0" smtClean="0"/>
              <a:t>HP3 – </a:t>
            </a:r>
            <a:r>
              <a:rPr lang="en-US" sz="3000" b="1" dirty="0" smtClean="0"/>
              <a:t>World’s first mass produced 200MP Sensor</a:t>
            </a:r>
            <a:endParaRPr lang="en-US" sz="3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&gt;200 sims ran </a:t>
            </a:r>
            <a:r>
              <a:rPr lang="en-US" sz="3000" dirty="0" smtClean="0"/>
              <a:t>on emulation </a:t>
            </a:r>
            <a:r>
              <a:rPr lang="en-US" sz="3000" dirty="0"/>
              <a:t>to support queries on settings and issues.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~80% reduction in effort for reproduction &amp; closure</a:t>
            </a:r>
            <a:r>
              <a:rPr lang="en-US" sz="3000" dirty="0" smtClean="0"/>
              <a:t>.</a:t>
            </a:r>
            <a:endParaRPr lang="en-US" sz="3000" dirty="0"/>
          </a:p>
        </p:txBody>
      </p:sp>
      <p:cxnSp>
        <p:nvCxnSpPr>
          <p:cNvPr id="53" name="Straight Connector 52"/>
          <p:cNvCxnSpPr/>
          <p:nvPr/>
        </p:nvCxnSpPr>
        <p:spPr>
          <a:xfrm>
            <a:off x="15136813" y="27979688"/>
            <a:ext cx="0" cy="9439275"/>
          </a:xfrm>
          <a:prstGeom prst="line">
            <a:avLst/>
          </a:prstGeom>
          <a:ln w="1270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5136813" y="6330950"/>
            <a:ext cx="0" cy="9440863"/>
          </a:xfrm>
          <a:prstGeom prst="line">
            <a:avLst/>
          </a:prstGeom>
          <a:ln w="1270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 Placeholder 44">
            <a:extLst>
              <a:ext uri="{FF2B5EF4-FFF2-40B4-BE49-F238E27FC236}">
                <a16:creationId xmlns:a16="http://schemas.microsoft.com/office/drawing/2014/main" xmlns="" id="{749F937F-D152-4278-8DF2-2052C8B15446}"/>
              </a:ext>
            </a:extLst>
          </p:cNvPr>
          <p:cNvSpPr txBox="1">
            <a:spLocks/>
          </p:cNvSpPr>
          <p:nvPr/>
        </p:nvSpPr>
        <p:spPr>
          <a:xfrm>
            <a:off x="4881206" y="38380734"/>
            <a:ext cx="14283756" cy="800265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 defTabSz="4297363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900" b="1" u="sng" kern="120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90913" indent="-1343025" algn="l" defTabSz="4297363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72100" indent="-1073150" algn="l" defTabSz="4297363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21575" indent="-1073150" algn="l" defTabSz="4297363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9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71050" indent="-1073150" algn="l" defTabSz="4297363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9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820625" indent="-1074603" algn="l" defTabSz="429841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969828" indent="-1074603" algn="l" defTabSz="429841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119034" indent="-1074603" algn="l" defTabSz="429841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68238" indent="-1074603" algn="l" defTabSz="429841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29841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nl-NL"/>
              <a:t>REFERENCES</a:t>
            </a:r>
            <a:endParaRPr lang="en-US" dirty="0"/>
          </a:p>
        </p:txBody>
      </p:sp>
      <p:sp>
        <p:nvSpPr>
          <p:cNvPr id="275" name="Text Placeholder 274">
            <a:extLst>
              <a:ext uri="{FF2B5EF4-FFF2-40B4-BE49-F238E27FC236}">
                <a16:creationId xmlns:a16="http://schemas.microsoft.com/office/drawing/2014/main" xmlns="" id="{1F6C2DF7-F837-4365-905A-AC3E47CB29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353328" y="6925562"/>
            <a:ext cx="14287682" cy="8983693"/>
          </a:xfrm>
        </p:spPr>
        <p:txBody>
          <a:bodyPr/>
          <a:lstStyle/>
          <a:p>
            <a:r>
              <a:rPr lang="en-US" dirty="0"/>
              <a:t>This poster demonstrates integrating a Palladium hardware emulator based simulation acceleration flow in an SV-UVM based </a:t>
            </a:r>
            <a:r>
              <a:rPr lang="en-US" dirty="0" err="1"/>
              <a:t>testbench</a:t>
            </a:r>
            <a:r>
              <a:rPr lang="en-US" dirty="0"/>
              <a:t> environment. We target porting all the power transition checks, isolation &amp; retention checks, and scoreboard data checks to emulator to ensure functional correctness with power aware enabled on the emulator.</a:t>
            </a:r>
          </a:p>
          <a:p>
            <a:endParaRPr lang="en-US" dirty="0"/>
          </a:p>
          <a:p>
            <a:r>
              <a:rPr lang="en-US" dirty="0"/>
              <a:t>By passing power intent (UPF, liberty, isolation </a:t>
            </a:r>
            <a:r>
              <a:rPr lang="en-US" dirty="0" err="1"/>
              <a:t>etc</a:t>
            </a:r>
            <a:r>
              <a:rPr lang="en-US" dirty="0"/>
              <a:t>) file in compile time, the compiler inserts instrumentation logic to generate power-aware emulator database similar to simulation setup.</a:t>
            </a:r>
          </a:p>
          <a:p>
            <a:endParaRPr lang="en-US" dirty="0"/>
          </a:p>
          <a:p>
            <a:r>
              <a:rPr lang="en-US" dirty="0"/>
              <a:t>We propose to make following updates to SV-UVM based </a:t>
            </a:r>
            <a:r>
              <a:rPr lang="en-US" dirty="0" err="1"/>
              <a:t>testbench</a:t>
            </a:r>
            <a:r>
              <a:rPr lang="en-US" dirty="0"/>
              <a:t> for running hardware based sims.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Reuse the </a:t>
            </a:r>
            <a:r>
              <a:rPr lang="en-US" dirty="0" err="1"/>
              <a:t>testcases</a:t>
            </a:r>
            <a:r>
              <a:rPr lang="en-US" dirty="0"/>
              <a:t>, monitor, </a:t>
            </a:r>
            <a:r>
              <a:rPr lang="en-US" dirty="0" smtClean="0"/>
              <a:t>assertions &amp; generic </a:t>
            </a:r>
            <a:r>
              <a:rPr lang="en-US" dirty="0"/>
              <a:t>scoreboard logic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Integrate IEEE 1801 constructs for low power DV.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Minimizing time spent in software - reduce HW/SW interactions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Enable waveform support – to debug the issues. Also, the dump should be fast and allow probes on power elements of the design.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Support product firmware validation - for both function &amp; power intent.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87" t="2259" r="1603" b="4778"/>
          <a:stretch/>
        </p:blipFill>
        <p:spPr>
          <a:xfrm>
            <a:off x="765966" y="17858342"/>
            <a:ext cx="7158833" cy="4781550"/>
          </a:xfrm>
          <a:prstGeom prst="rect">
            <a:avLst/>
          </a:prstGeom>
          <a:ln w="3175">
            <a:solidFill>
              <a:schemeClr val="bg2">
                <a:lumMod val="25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729" r="2269"/>
          <a:stretch/>
        </p:blipFill>
        <p:spPr>
          <a:xfrm>
            <a:off x="8077199" y="20859361"/>
            <a:ext cx="6888809" cy="4907594"/>
          </a:xfrm>
          <a:prstGeom prst="rect">
            <a:avLst/>
          </a:prstGeom>
          <a:ln w="12700">
            <a:solidFill>
              <a:schemeClr val="bg2">
                <a:lumMod val="25000"/>
              </a:schemeClr>
            </a:solidFill>
          </a:ln>
        </p:spPr>
      </p:pic>
      <p:sp>
        <p:nvSpPr>
          <p:cNvPr id="31" name="Text Placeholder 269">
            <a:extLst>
              <a:ext uri="{FF2B5EF4-FFF2-40B4-BE49-F238E27FC236}">
                <a16:creationId xmlns:a16="http://schemas.microsoft.com/office/drawing/2014/main" xmlns="" id="{24E67FAD-2EC9-4452-953C-16270FE232E9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2" name="Text Placeholder 269">
            <a:extLst>
              <a:ext uri="{FF2B5EF4-FFF2-40B4-BE49-F238E27FC236}">
                <a16:creationId xmlns:a16="http://schemas.microsoft.com/office/drawing/2014/main" xmlns="" id="{24E67FAD-2EC9-4452-953C-16270FE232E9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3433406" y="22670250"/>
            <a:ext cx="1352550" cy="723150"/>
          </a:xfrm>
        </p:spPr>
        <p:txBody>
          <a:bodyPr/>
          <a:lstStyle/>
          <a:p>
            <a:r>
              <a:rPr lang="en-US" sz="2400" dirty="0" smtClean="0"/>
              <a:t>Fig [1]</a:t>
            </a:r>
            <a:endParaRPr lang="en-IN" sz="2400" dirty="0"/>
          </a:p>
        </p:txBody>
      </p:sp>
      <p:sp>
        <p:nvSpPr>
          <p:cNvPr id="36" name="Text Placeholder 269">
            <a:extLst>
              <a:ext uri="{FF2B5EF4-FFF2-40B4-BE49-F238E27FC236}">
                <a16:creationId xmlns:a16="http://schemas.microsoft.com/office/drawing/2014/main" xmlns="" id="{24E67FAD-2EC9-4452-953C-16270FE232E9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10854531" y="25794450"/>
            <a:ext cx="1352550" cy="761250"/>
          </a:xfrm>
        </p:spPr>
        <p:txBody>
          <a:bodyPr/>
          <a:lstStyle/>
          <a:p>
            <a:r>
              <a:rPr lang="en-US" sz="2400" dirty="0" smtClean="0"/>
              <a:t>Fig [2]</a:t>
            </a:r>
            <a:endParaRPr lang="en-IN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253284" y="38787859"/>
            <a:ext cx="10058400" cy="14943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516600" y="40215499"/>
            <a:ext cx="3294118" cy="50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PosterPresentations.com-100CMx140CM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PosterPresentations.com-100CMx140CM</Template>
  <TotalTime>0</TotalTime>
  <Words>824</Words>
  <Application>Microsoft Office PowerPoint</Application>
  <PresentationFormat>Custom</PresentationFormat>
  <Paragraphs>71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PosterPresentations.com-100CMx140CM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2014-08-15T11:56:08Z</dcterms:created>
  <dcterms:modified xsi:type="dcterms:W3CDTF">2023-08-19T12:28:04Z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f75f480-7803-4ee9-bb54-84d0635fdbe7_Enabled">
    <vt:lpwstr>true</vt:lpwstr>
  </property>
  <property fmtid="{D5CDD505-2E9C-101B-9397-08002B2CF9AE}" pid="3" name="MSIP_Label_6f75f480-7803-4ee9-bb54-84d0635fdbe7_SetDate">
    <vt:lpwstr>2022-12-15T11:05:39Z</vt:lpwstr>
  </property>
  <property fmtid="{D5CDD505-2E9C-101B-9397-08002B2CF9AE}" pid="4" name="MSIP_Label_6f75f480-7803-4ee9-bb54-84d0635fdbe7_Method">
    <vt:lpwstr>Privileged</vt:lpwstr>
  </property>
  <property fmtid="{D5CDD505-2E9C-101B-9397-08002B2CF9AE}" pid="5" name="MSIP_Label_6f75f480-7803-4ee9-bb54-84d0635fdbe7_Name">
    <vt:lpwstr>unrestricted</vt:lpwstr>
  </property>
  <property fmtid="{D5CDD505-2E9C-101B-9397-08002B2CF9AE}" pid="6" name="MSIP_Label_6f75f480-7803-4ee9-bb54-84d0635fdbe7_SiteId">
    <vt:lpwstr>38ae3bcd-9579-4fd4-adda-b42e1495d55a</vt:lpwstr>
  </property>
  <property fmtid="{D5CDD505-2E9C-101B-9397-08002B2CF9AE}" pid="7" name="MSIP_Label_6f75f480-7803-4ee9-bb54-84d0635fdbe7_ActionId">
    <vt:lpwstr>140a3bd7-e52c-4f1a-a516-4da2c627b15d</vt:lpwstr>
  </property>
  <property fmtid="{D5CDD505-2E9C-101B-9397-08002B2CF9AE}" pid="8" name="MSIP_Label_6f75f480-7803-4ee9-bb54-84d0635fdbe7_ContentBits">
    <vt:lpwstr>0</vt:lpwstr>
  </property>
  <property fmtid="{D5CDD505-2E9C-101B-9397-08002B2CF9AE}" pid="9" name="Document_Confidentiality">
    <vt:lpwstr>Unrestricted</vt:lpwstr>
  </property>
</Properties>
</file>